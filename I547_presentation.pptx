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sldIdLst>
    <p:sldId id="256" r:id="rId2"/>
    <p:sldId id="277" r:id="rId3"/>
    <p:sldId id="293" r:id="rId4"/>
    <p:sldId id="294" r:id="rId5"/>
    <p:sldId id="280" r:id="rId6"/>
    <p:sldId id="281" r:id="rId7"/>
    <p:sldId id="295" r:id="rId8"/>
    <p:sldId id="296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76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9AFFC01-A772-4956-8622-D48EAD0588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F58A2-D103-489C-922E-3D2C823A34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C3756-C98F-49FB-98B0-712DD819F7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E7BFD9-02B8-4CF3-8955-29AD33FB1F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332ED-F939-40BB-AD22-B5D3B19C1D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361BC-DEE8-4380-8B82-2365E7810B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D8F85-EBE2-49A7-8CD7-41AE6D1589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DB41D-35E7-4837-992E-BDAC3CC3B0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5DEA8-F8A2-4DA2-B525-ECC240A84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58363-03DA-4BDB-A065-BB7686AA6D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61848-8C67-463D-A743-F3F2175D98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+mj-lt"/>
              </a:defRPr>
            </a:lvl1pPr>
          </a:lstStyle>
          <a:p>
            <a:pPr>
              <a:defRPr/>
            </a:pPr>
            <a:fld id="{CF430D61-8D44-43C5-9FE1-17927C01C4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51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600" dirty="0" smtClean="0"/>
              <a:t>Vector Quantization</a:t>
            </a:r>
            <a:r>
              <a:rPr lang="en-US" sz="4600" dirty="0" smtClean="0"/>
              <a:t/>
            </a:r>
            <a:br>
              <a:rPr lang="en-US" sz="4600" dirty="0" smtClean="0"/>
            </a:br>
            <a:endParaRPr lang="en-US" sz="4600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Wyatt </a:t>
            </a:r>
            <a:r>
              <a:rPr lang="en-US" dirty="0" smtClean="0"/>
              <a:t>Clark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Methods – Data representation</a:t>
            </a:r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 signal is represented as a Short Term Fourier Transform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Given a</a:t>
            </a:r>
          </a:p>
          <a:p>
            <a:pPr lvl="1" eaLnBrk="1" hangingPunct="1"/>
            <a:r>
              <a:rPr lang="en-US" i="1" dirty="0" smtClean="0"/>
              <a:t>l</a:t>
            </a:r>
            <a:r>
              <a:rPr lang="en-US" dirty="0" smtClean="0"/>
              <a:t> length signal</a:t>
            </a:r>
          </a:p>
          <a:p>
            <a:pPr lvl="1" eaLnBrk="1" hangingPunct="1"/>
            <a:r>
              <a:rPr lang="en-US" i="1" dirty="0" smtClean="0"/>
              <a:t>N</a:t>
            </a:r>
            <a:r>
              <a:rPr lang="en-US" dirty="0" smtClean="0"/>
              <a:t> length window size</a:t>
            </a:r>
          </a:p>
          <a:p>
            <a:pPr lvl="1" eaLnBrk="1" hangingPunct="1"/>
            <a:r>
              <a:rPr lang="en-US" i="1" dirty="0" smtClean="0"/>
              <a:t>H </a:t>
            </a:r>
            <a:r>
              <a:rPr lang="en-US" dirty="0" smtClean="0"/>
              <a:t>length shift</a:t>
            </a:r>
            <a:endParaRPr lang="en-US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Methods-Data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STFT is a </a:t>
            </a:r>
            <a:r>
              <a:rPr lang="en-US" dirty="0" err="1" smtClean="0"/>
              <a:t>MxN</a:t>
            </a:r>
            <a:r>
              <a:rPr lang="en-US" dirty="0" smtClean="0"/>
              <a:t> matrix of complex numbers 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r>
              <a:rPr lang="en-US" dirty="0" smtClean="0"/>
              <a:t>M = (</a:t>
            </a:r>
            <a:r>
              <a:rPr lang="en-US" i="1" dirty="0" smtClean="0"/>
              <a:t>l-N)/H</a:t>
            </a:r>
          </a:p>
          <a:p>
            <a:pPr lvl="3"/>
            <a:r>
              <a:rPr lang="en-US" i="1" dirty="0" smtClean="0"/>
              <a:t>M is the number of </a:t>
            </a:r>
            <a:r>
              <a:rPr lang="en-US" i="1" dirty="0" err="1" smtClean="0"/>
              <a:t>fourier</a:t>
            </a:r>
            <a:r>
              <a:rPr lang="en-US" i="1" dirty="0" smtClean="0"/>
              <a:t> transforms taken</a:t>
            </a:r>
          </a:p>
          <a:p>
            <a:pPr lvl="2">
              <a:buNone/>
            </a:pPr>
            <a:r>
              <a:rPr lang="en-US" i="1" dirty="0" smtClean="0"/>
              <a:t>N = Window size  </a:t>
            </a:r>
          </a:p>
          <a:p>
            <a:pPr lvl="3">
              <a:buNone/>
            </a:pPr>
            <a:endParaRPr lang="en-US" i="1" dirty="0" smtClean="0"/>
          </a:p>
          <a:p>
            <a:r>
              <a:rPr lang="en-US" dirty="0" smtClean="0"/>
              <a:t>These numbers can be decomposed into their respective parts</a:t>
            </a:r>
          </a:p>
          <a:p>
            <a:pPr lvl="1"/>
            <a:r>
              <a:rPr lang="en-US" i="1" dirty="0" smtClean="0"/>
              <a:t>Phase</a:t>
            </a:r>
          </a:p>
          <a:p>
            <a:pPr lvl="1"/>
            <a:r>
              <a:rPr lang="en-US" i="1" dirty="0" smtClean="0"/>
              <a:t>E</a:t>
            </a:r>
            <a:r>
              <a:rPr lang="en-US" i="1" dirty="0" smtClean="0"/>
              <a:t>nergy</a:t>
            </a:r>
            <a:r>
              <a:rPr lang="en-US" i="1" dirty="0" smtClean="0"/>
              <a:t>	</a:t>
            </a: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en-US" dirty="0" smtClean="0"/>
              <a:t>Energies of the signal can be extracted from the complex numbers</a:t>
            </a:r>
          </a:p>
          <a:p>
            <a:pPr lvl="1"/>
            <a:r>
              <a:rPr lang="en-US" dirty="0" smtClean="0"/>
              <a:t>In </a:t>
            </a:r>
            <a:r>
              <a:rPr lang="en-US" dirty="0" err="1" smtClean="0"/>
              <a:t>matlab</a:t>
            </a:r>
            <a:r>
              <a:rPr lang="en-US" dirty="0" smtClean="0"/>
              <a:t> this is done using the “angle” argument</a:t>
            </a:r>
            <a:endParaRPr lang="en-US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3505200"/>
            <a:ext cx="26384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Methods - Clustering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65275"/>
            <a:ext cx="4267200" cy="4530725"/>
          </a:xfrm>
          <a:noFill/>
        </p:spPr>
        <p:txBody>
          <a:bodyPr/>
          <a:lstStyle/>
          <a:p>
            <a:pPr eaLnBrk="1" hangingPunct="1"/>
            <a:r>
              <a:rPr lang="en-US" i="1" dirty="0" smtClean="0"/>
              <a:t>Create </a:t>
            </a:r>
            <a:r>
              <a:rPr lang="en-US" i="1" dirty="0" smtClean="0"/>
              <a:t>k </a:t>
            </a:r>
            <a:r>
              <a:rPr lang="en-US" i="1" dirty="0" smtClean="0"/>
              <a:t>clusters of </a:t>
            </a:r>
            <a:r>
              <a:rPr lang="en-US" i="1" dirty="0" smtClean="0"/>
              <a:t>vectors</a:t>
            </a:r>
            <a:endParaRPr lang="en-US" i="1" dirty="0" smtClean="0"/>
          </a:p>
          <a:p>
            <a:pPr eaLnBrk="1" hangingPunct="1"/>
            <a:r>
              <a:rPr lang="en-US" dirty="0" smtClean="0"/>
              <a:t>Each cluster is represented by a Centroid</a:t>
            </a:r>
          </a:p>
          <a:p>
            <a:pPr lvl="1" eaLnBrk="1" hangingPunct="1"/>
            <a:r>
              <a:rPr lang="en-US" i="1" dirty="0" smtClean="0"/>
              <a:t>C </a:t>
            </a:r>
            <a:r>
              <a:rPr lang="en-US" i="1" dirty="0" smtClean="0"/>
              <a:t>= { c</a:t>
            </a:r>
            <a:r>
              <a:rPr lang="en-US" i="1" baseline="-25000" dirty="0" smtClean="0"/>
              <a:t>1</a:t>
            </a:r>
            <a:r>
              <a:rPr lang="en-US" i="1" dirty="0" smtClean="0"/>
              <a:t>,c</a:t>
            </a:r>
            <a:r>
              <a:rPr lang="en-US" i="1" baseline="-25000" dirty="0" smtClean="0"/>
              <a:t>2</a:t>
            </a:r>
            <a:r>
              <a:rPr lang="en-US" i="1" dirty="0" smtClean="0"/>
              <a:t>,…..</a:t>
            </a:r>
            <a:r>
              <a:rPr lang="en-US" i="1" dirty="0" smtClean="0"/>
              <a:t>c</a:t>
            </a:r>
            <a:r>
              <a:rPr lang="en-US" i="1" baseline="-25000" dirty="0" smtClean="0"/>
              <a:t>k</a:t>
            </a:r>
            <a:r>
              <a:rPr lang="en-US" i="1" dirty="0" smtClean="0"/>
              <a:t>}</a:t>
            </a:r>
            <a:endParaRPr lang="en-US" i="1" dirty="0" smtClean="0"/>
          </a:p>
          <a:p>
            <a:pPr eaLnBrk="1" hangingPunct="1"/>
            <a:endParaRPr lang="en-US" dirty="0" smtClean="0"/>
          </a:p>
        </p:txBody>
      </p:sp>
      <p:pic>
        <p:nvPicPr>
          <p:cNvPr id="14340" name="Picture 4" descr="f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1981200"/>
            <a:ext cx="359886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Methods - Encoding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65275"/>
            <a:ext cx="8229600" cy="4530725"/>
          </a:xfrm>
          <a:noFill/>
        </p:spPr>
        <p:txBody>
          <a:bodyPr/>
          <a:lstStyle/>
          <a:p>
            <a:pPr eaLnBrk="1" hangingPunct="1"/>
            <a:r>
              <a:rPr lang="en-US" dirty="0" smtClean="0"/>
              <a:t>Encode a </a:t>
            </a:r>
            <a:r>
              <a:rPr lang="en-US" dirty="0" smtClean="0"/>
              <a:t>signal </a:t>
            </a:r>
            <a:r>
              <a:rPr lang="en-US" i="1" dirty="0" smtClean="0"/>
              <a:t>s </a:t>
            </a:r>
            <a:r>
              <a:rPr lang="en-US" dirty="0" smtClean="0"/>
              <a:t> </a:t>
            </a:r>
            <a:r>
              <a:rPr lang="en-US" dirty="0" smtClean="0"/>
              <a:t>as </a:t>
            </a:r>
            <a:r>
              <a:rPr lang="en-US" i="1" dirty="0" smtClean="0"/>
              <a:t>m </a:t>
            </a:r>
            <a:r>
              <a:rPr lang="en-US" dirty="0" smtClean="0"/>
              <a:t>length vector</a:t>
            </a:r>
          </a:p>
          <a:p>
            <a:pPr lvl="1" eaLnBrk="1" hangingPunct="1"/>
            <a:r>
              <a:rPr lang="en-US" i="1" dirty="0" smtClean="0"/>
              <a:t>q = {q</a:t>
            </a:r>
            <a:r>
              <a:rPr lang="en-US" i="1" baseline="-25000" dirty="0" smtClean="0"/>
              <a:t>1</a:t>
            </a:r>
            <a:r>
              <a:rPr lang="en-US" i="1" dirty="0" smtClean="0"/>
              <a:t>, q</a:t>
            </a:r>
            <a:r>
              <a:rPr lang="en-US" i="1" baseline="-25000" dirty="0" smtClean="0"/>
              <a:t>2</a:t>
            </a:r>
            <a:r>
              <a:rPr lang="en-US" i="1" dirty="0" smtClean="0"/>
              <a:t>, …</a:t>
            </a:r>
            <a:r>
              <a:rPr lang="en-US" i="1" dirty="0" err="1" smtClean="0"/>
              <a:t>q</a:t>
            </a:r>
            <a:r>
              <a:rPr lang="en-US" i="1" baseline="-25000" dirty="0" err="1" smtClean="0"/>
              <a:t>m</a:t>
            </a:r>
            <a:r>
              <a:rPr lang="en-US" i="1" dirty="0" smtClean="0"/>
              <a:t>}</a:t>
            </a:r>
          </a:p>
          <a:p>
            <a:pPr lvl="1" eaLnBrk="1" hangingPunct="1"/>
            <a:r>
              <a:rPr lang="en-US" i="1" dirty="0" err="1" smtClean="0"/>
              <a:t>q</a:t>
            </a:r>
            <a:r>
              <a:rPr lang="en-US" i="1" baseline="-25000" dirty="0" err="1" smtClean="0"/>
              <a:t>i</a:t>
            </a:r>
            <a:r>
              <a:rPr lang="en-US" dirty="0" smtClean="0"/>
              <a:t> = </a:t>
            </a:r>
            <a:r>
              <a:rPr lang="en-US" dirty="0" smtClean="0"/>
              <a:t>index of centroid that n length vector </a:t>
            </a:r>
            <a:r>
              <a:rPr lang="en-US" dirty="0" err="1" smtClean="0"/>
              <a:t>i</a:t>
            </a:r>
            <a:r>
              <a:rPr lang="en-US" dirty="0" smtClean="0"/>
              <a:t> is closest to</a:t>
            </a:r>
            <a:endParaRPr lang="en-US" baseline="-25000" dirty="0" smtClean="0"/>
          </a:p>
          <a:p>
            <a:pPr lvl="1" eaLnBrk="1" hangingPunct="1">
              <a:buNone/>
            </a:pPr>
            <a:endParaRPr lang="en-US" baseline="-25000" dirty="0" smtClean="0"/>
          </a:p>
          <a:p>
            <a:pPr eaLnBrk="1" hangingPunct="1"/>
            <a:r>
              <a:rPr lang="en-US" baseline="-25000" dirty="0" smtClean="0"/>
              <a:t>Distance measure can be calculated a number of ways</a:t>
            </a:r>
          </a:p>
          <a:p>
            <a:pPr lvl="1" eaLnBrk="1" hangingPunct="1"/>
            <a:r>
              <a:rPr lang="en-US" baseline="-25000" dirty="0" smtClean="0"/>
              <a:t>City block</a:t>
            </a:r>
          </a:p>
          <a:p>
            <a:pPr lvl="1" eaLnBrk="1" hangingPunct="1"/>
            <a:r>
              <a:rPr lang="en-US" baseline="-25000" dirty="0" smtClean="0"/>
              <a:t>Euclidean</a:t>
            </a:r>
          </a:p>
          <a:p>
            <a:pPr lvl="1" eaLnBrk="1" hangingPunct="1"/>
            <a:r>
              <a:rPr lang="en-US" baseline="-25000" dirty="0" smtClean="0"/>
              <a:t>Mahalanobis</a:t>
            </a:r>
            <a:endParaRPr lang="en-US" baseline="-25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Signals can now be encoded as:</a:t>
            </a:r>
          </a:p>
          <a:p>
            <a:pPr lvl="1"/>
            <a:r>
              <a:rPr lang="en-US" dirty="0" smtClean="0"/>
              <a:t> a M &lt; l length vector of centroid id’s</a:t>
            </a:r>
          </a:p>
          <a:p>
            <a:pPr lvl="1"/>
            <a:r>
              <a:rPr lang="en-US" dirty="0" smtClean="0"/>
              <a:t>A set of K, N length centroids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If M+(</a:t>
            </a:r>
            <a:r>
              <a:rPr lang="en-US" dirty="0" err="1" smtClean="0"/>
              <a:t>KxN</a:t>
            </a:r>
            <a:r>
              <a:rPr lang="en-US" dirty="0" smtClean="0"/>
              <a:t>) &lt; l, then this provides an efficient method of encoding a signal</a:t>
            </a:r>
          </a:p>
          <a:p>
            <a:pPr lvl="1"/>
            <a:r>
              <a:rPr lang="en-US" dirty="0" smtClean="0"/>
              <a:t>IF it can be recreated without sufficient loss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only encoding the angle of the complex number, you still have a l length vector of phases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Clustering phase vectors is problematic</a:t>
            </a:r>
          </a:p>
          <a:p>
            <a:pPr lvl="1"/>
            <a:r>
              <a:rPr lang="en-US" dirty="0" smtClean="0"/>
              <a:t>Concatenating Phase and Energy Vectors Does not help</a:t>
            </a:r>
          </a:p>
          <a:p>
            <a:pPr lvl="2"/>
            <a:r>
              <a:rPr lang="en-US" dirty="0" smtClean="0"/>
              <a:t>Might have to try a large cluster size</a:t>
            </a:r>
          </a:p>
          <a:p>
            <a:pPr lvl="2"/>
            <a:r>
              <a:rPr lang="en-US" dirty="0" smtClean="0"/>
              <a:t>Might not be able to cluster phase vectors</a:t>
            </a:r>
            <a:r>
              <a:rPr lang="en-US" dirty="0" smtClean="0"/>
              <a:t>	</a:t>
            </a: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Edge 10">
      <a:dk1>
        <a:srgbClr val="000066"/>
      </a:dk1>
      <a:lt1>
        <a:srgbClr val="FFFFFF"/>
      </a:lt1>
      <a:dk2>
        <a:srgbClr val="FF3300"/>
      </a:dk2>
      <a:lt2>
        <a:srgbClr val="666699"/>
      </a:lt2>
      <a:accent1>
        <a:srgbClr val="6666FF"/>
      </a:accent1>
      <a:accent2>
        <a:srgbClr val="999933"/>
      </a:accent2>
      <a:accent3>
        <a:srgbClr val="FFFFFF"/>
      </a:accent3>
      <a:accent4>
        <a:srgbClr val="000056"/>
      </a:accent4>
      <a:accent5>
        <a:srgbClr val="B8B8FF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66"/>
        </a:dk1>
        <a:lt1>
          <a:srgbClr val="FFFFFF"/>
        </a:lt1>
        <a:dk2>
          <a:srgbClr val="FF3300"/>
        </a:dk2>
        <a:lt2>
          <a:srgbClr val="666699"/>
        </a:lt2>
        <a:accent1>
          <a:srgbClr val="6666FF"/>
        </a:accent1>
        <a:accent2>
          <a:srgbClr val="999933"/>
        </a:accent2>
        <a:accent3>
          <a:srgbClr val="FFFFFF"/>
        </a:accent3>
        <a:accent4>
          <a:srgbClr val="000056"/>
        </a:accent4>
        <a:accent5>
          <a:srgbClr val="B8B8FF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1574</TotalTime>
  <Words>263</Words>
  <Application>Microsoft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Edge</vt:lpstr>
      <vt:lpstr>Vector Quantization </vt:lpstr>
      <vt:lpstr>Methods – Data representation</vt:lpstr>
      <vt:lpstr>Methods-Data representation</vt:lpstr>
      <vt:lpstr>Clustering</vt:lpstr>
      <vt:lpstr>Methods - Clustering</vt:lpstr>
      <vt:lpstr>Methods - Encoding</vt:lpstr>
      <vt:lpstr>Encoding</vt:lpstr>
      <vt:lpstr>Problems</vt:lpstr>
    </vt:vector>
  </TitlesOfParts>
  <Company>Indiana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sriram</dc:creator>
  <cp:lastModifiedBy>IU School of Informatics</cp:lastModifiedBy>
  <cp:revision>47</cp:revision>
  <dcterms:created xsi:type="dcterms:W3CDTF">2008-04-19T02:58:06Z</dcterms:created>
  <dcterms:modified xsi:type="dcterms:W3CDTF">2008-04-24T15:25:12Z</dcterms:modified>
</cp:coreProperties>
</file>